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0154E3"/>
    <a:srgbClr val="FFC220"/>
    <a:srgbClr val="DA2427"/>
    <a:srgbClr val="BE1617"/>
    <a:srgbClr val="FD3476"/>
    <a:srgbClr val="FE5764"/>
    <a:srgbClr val="FF7854"/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97" autoAdjust="0"/>
  </p:normalViewPr>
  <p:slideViewPr>
    <p:cSldViewPr snapToGrid="0">
      <p:cViewPr varScale="1">
        <p:scale>
          <a:sx n="88" d="100"/>
          <a:sy n="88" d="100"/>
        </p:scale>
        <p:origin x="14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E56658F-8B6E-982E-D067-2D7C96FE39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0FC48C-869F-4102-7CDC-97CE14320C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FEBD8-66CA-46B5-9712-7C103E5D68A3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2780A9-B331-92E3-2B25-AADCE8A928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3906B-509A-1615-9FB7-D228398D44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07F8-6D4B-47B1-A7EC-E0DBA7C696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122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F379-739F-4DE7-A906-09CE9543F89B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BDE13-EA34-4A54-B72A-056F07E83B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0488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BDE13-EA34-4A54-B72A-056F07E83B8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3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5A61-0015-4B36-B459-A172002CD4F7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94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CCB31-7F7F-4FC2-BDE1-55FA459FF83F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5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B923-D8D7-4104-906E-DDC476607618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53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F672-7856-454A-835A-9E0D302E6733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1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113DF-5FBB-470A-B6A7-6A947477F870}" type="datetime1">
              <a:rPr lang="fr-FR" smtClean="0"/>
              <a:t>14/04/2026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14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01A9-6B5E-4244-8A59-AA59E8647A25}" type="datetime1">
              <a:rPr lang="fr-FR" smtClean="0"/>
              <a:t>14/04/2026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87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C1CD-D6E7-40D2-B6DD-FE76B5BD80F3}" type="datetime1">
              <a:rPr lang="fr-FR" smtClean="0"/>
              <a:t>14/04/2026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17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0D89-867B-4C15-870D-4AA35231A0CB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7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AEF33-477E-4DB6-9DC1-9FB1D0FF7462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95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541BE-7611-4E23-9FC2-B89B6C106521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80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2E2BE-729D-4A8F-97EC-87974B4EC36D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95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3A2E955-8AE0-4244-BDFC-B7A2BA7743F1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467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2AEE5-670D-14A5-2EF7-AA90A5E64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4135437"/>
          </a:xfrm>
        </p:spPr>
        <p:txBody>
          <a:bodyPr anchor="ctr"/>
          <a:lstStyle/>
          <a:p>
            <a:r>
              <a:rPr lang="fr-FR" dirty="0">
                <a:solidFill>
                  <a:srgbClr val="2ECC71"/>
                </a:solidFill>
                <a:latin typeface="Space Grotesk SemiBold" pitchFamily="50" charset="0"/>
              </a:rPr>
              <a:t>Prédiction </a:t>
            </a:r>
            <a:r>
              <a:rPr lang="fr-FR" dirty="0">
                <a:latin typeface="Space Grotesk SemiBold" pitchFamily="50" charset="0"/>
              </a:rPr>
              <a:t>du </a:t>
            </a:r>
            <a:br>
              <a:rPr lang="fr-FR" dirty="0">
                <a:latin typeface="Space Grotesk SemiBold" pitchFamily="50" charset="0"/>
              </a:rPr>
            </a:br>
            <a:r>
              <a:rPr lang="fr-FR" dirty="0">
                <a:latin typeface="Space Grotesk SemiBold" pitchFamily="50" charset="0"/>
              </a:rPr>
              <a:t>taux de </a:t>
            </a:r>
            <a:r>
              <a:rPr lang="fr-FR" dirty="0">
                <a:solidFill>
                  <a:srgbClr val="2ECC71"/>
                </a:solidFill>
                <a:latin typeface="Space Grotesk SemiBold" pitchFamily="50" charset="0"/>
              </a:rPr>
              <a:t>conversion</a:t>
            </a:r>
            <a:endParaRPr lang="fr-FR" dirty="0">
              <a:latin typeface="Space Grotesk SemiBold" pitchFamily="50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C1ECE9-F298-2E46-1DD8-F94042AF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Athanor SAVOUILLAN_Jedha - BLOC 3 - Conversion Rate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03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E4E5F-5FA3-B178-2321-EDFADC07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9D43FA-6B79-DAE9-4348-070491FF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7DA57-4E6A-3243-9AA3-E5F01762C173}"/>
              </a:ext>
            </a:extLst>
          </p:cNvPr>
          <p:cNvSpPr txBox="1"/>
          <p:nvPr/>
        </p:nvSpPr>
        <p:spPr>
          <a:xfrm>
            <a:off x="838199" y="2409531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/>
              <a:t>Comment </a:t>
            </a:r>
            <a:r>
              <a:rPr lang="fr-FR" sz="2400" dirty="0">
                <a:solidFill>
                  <a:srgbClr val="2ECC71"/>
                </a:solidFill>
              </a:rPr>
              <a:t>prédire</a:t>
            </a:r>
            <a:r>
              <a:rPr lang="fr-FR" sz="2400" dirty="0"/>
              <a:t> si un visiteur va s'abonner à la </a:t>
            </a:r>
            <a:r>
              <a:rPr lang="fr-FR" sz="2400" dirty="0">
                <a:solidFill>
                  <a:srgbClr val="2ECC71"/>
                </a:solidFill>
              </a:rPr>
              <a:t>newsletter</a:t>
            </a:r>
            <a:r>
              <a:rPr lang="fr-FR" sz="2400" dirty="0"/>
              <a:t> ? Quels leviers pour </a:t>
            </a:r>
            <a:r>
              <a:rPr lang="fr-FR" sz="2400" dirty="0">
                <a:solidFill>
                  <a:srgbClr val="2ECC71"/>
                </a:solidFill>
              </a:rPr>
              <a:t>améliorer</a:t>
            </a:r>
            <a:r>
              <a:rPr lang="fr-FR" sz="2400" dirty="0"/>
              <a:t> le taux de conversion 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0865076-D9D3-6F87-B594-B9B73F4D71A9}"/>
              </a:ext>
            </a:extLst>
          </p:cNvPr>
          <p:cNvSpPr txBox="1"/>
          <p:nvPr/>
        </p:nvSpPr>
        <p:spPr>
          <a:xfrm>
            <a:off x="3630382" y="3959371"/>
            <a:ext cx="493123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284 580 </a:t>
            </a:r>
            <a:r>
              <a:rPr lang="fr-FR" b="0" i="0" dirty="0">
                <a:solidFill>
                  <a:srgbClr val="2ECC71"/>
                </a:solidFill>
                <a:effectLst/>
                <a:latin typeface="Anthropic Sans"/>
              </a:rPr>
              <a:t>lignes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6 colonnes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taux de conversion 3,23 % (déséquilibre 97/3)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67FC9C0-449A-B638-83E4-419425EE7893}"/>
              </a:ext>
            </a:extLst>
          </p:cNvPr>
          <p:cNvSpPr txBox="1"/>
          <p:nvPr/>
        </p:nvSpPr>
        <p:spPr>
          <a:xfrm>
            <a:off x="3048000" y="56176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Format </a:t>
            </a:r>
            <a:r>
              <a:rPr lang="fr-FR" b="1" i="0" dirty="0">
                <a:solidFill>
                  <a:srgbClr val="2ECC71"/>
                </a:solidFill>
                <a:effectLst/>
                <a:latin typeface="Anthropic Sans"/>
              </a:rPr>
              <a:t>compétition</a:t>
            </a:r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 </a:t>
            </a:r>
            <a:r>
              <a:rPr lang="fr-FR" b="1" i="0" dirty="0" err="1">
                <a:solidFill>
                  <a:srgbClr val="F8F8F6"/>
                </a:solidFill>
                <a:effectLst/>
                <a:latin typeface="Anthropic Sans"/>
              </a:rPr>
              <a:t>Kaggle</a:t>
            </a:r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 — métrique F1-Score</a:t>
            </a:r>
            <a:endParaRPr lang="fr-FR" b="1" dirty="0">
              <a:solidFill>
                <a:srgbClr val="FFC2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64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0C155-E102-0517-F256-DDD2AB44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F6E5ED-02C0-1B8A-E35A-AFF058C2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CC7B80-BD97-A80C-6738-967D78CBB47C}"/>
              </a:ext>
            </a:extLst>
          </p:cNvPr>
          <p:cNvSpPr txBox="1"/>
          <p:nvPr/>
        </p:nvSpPr>
        <p:spPr>
          <a:xfrm>
            <a:off x="838200" y="2035381"/>
            <a:ext cx="10515600" cy="223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Preprocessing</a:t>
            </a:r>
            <a:r>
              <a:rPr lang="fr-FR" dirty="0"/>
              <a:t> : </a:t>
            </a:r>
            <a:r>
              <a:rPr lang="fr-FR" dirty="0" err="1">
                <a:solidFill>
                  <a:srgbClr val="2ECC71"/>
                </a:solidFill>
              </a:rPr>
              <a:t>One-Hot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 (country, source), split stratifié 80/20, </a:t>
            </a:r>
            <a:r>
              <a:rPr lang="fr-FR" dirty="0" err="1">
                <a:solidFill>
                  <a:srgbClr val="2ECC71"/>
                </a:solidFill>
              </a:rPr>
              <a:t>StandardScaler</a:t>
            </a:r>
            <a:endParaRPr lang="fr-FR" dirty="0">
              <a:solidFill>
                <a:srgbClr val="2ECC7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4 modèles testés :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→ </a:t>
            </a:r>
            <a:r>
              <a:rPr lang="fr-FR" dirty="0" err="1">
                <a:solidFill>
                  <a:srgbClr val="2ECC71"/>
                </a:solidFill>
              </a:rPr>
              <a:t>Random</a:t>
            </a:r>
            <a:r>
              <a:rPr lang="fr-FR" dirty="0"/>
              <a:t> Forest → </a:t>
            </a:r>
            <a:r>
              <a:rPr lang="fr-FR" dirty="0" err="1"/>
              <a:t>XGBoost</a:t>
            </a:r>
            <a:r>
              <a:rPr lang="fr-FR" dirty="0"/>
              <a:t> → </a:t>
            </a:r>
            <a:r>
              <a:rPr lang="fr-FR" dirty="0" err="1"/>
              <a:t>XGBoost</a:t>
            </a:r>
            <a:r>
              <a:rPr lang="fr-FR" dirty="0"/>
              <a:t> optimisé (</a:t>
            </a:r>
            <a:r>
              <a:rPr lang="fr-FR" dirty="0" err="1"/>
              <a:t>GridSearchCV</a:t>
            </a:r>
            <a:r>
              <a:rPr lang="fr-FR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Métrique : </a:t>
            </a:r>
            <a:r>
              <a:rPr lang="fr-FR" dirty="0">
                <a:solidFill>
                  <a:srgbClr val="2ECC71"/>
                </a:solidFill>
              </a:rPr>
              <a:t>F1-Score</a:t>
            </a:r>
            <a:r>
              <a:rPr lang="fr-FR" dirty="0"/>
              <a:t> (pas </a:t>
            </a:r>
            <a:r>
              <a:rPr lang="fr-FR" dirty="0" err="1"/>
              <a:t>Accuracy</a:t>
            </a:r>
            <a:r>
              <a:rPr lang="fr-FR" dirty="0"/>
              <a:t> car </a:t>
            </a:r>
            <a:r>
              <a:rPr lang="fr-FR" dirty="0" err="1"/>
              <a:t>dataset</a:t>
            </a:r>
            <a:r>
              <a:rPr lang="fr-FR" dirty="0"/>
              <a:t> déséquilibré)</a:t>
            </a:r>
          </a:p>
        </p:txBody>
      </p:sp>
    </p:spTree>
    <p:extLst>
      <p:ext uri="{BB962C8B-B14F-4D97-AF65-F5344CB8AC3E}">
        <p14:creationId xmlns:p14="http://schemas.microsoft.com/office/powerpoint/2010/main" val="333007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F7C9B-1664-77D3-781B-E6DB64C5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AEAC69-803F-5EF5-EDEC-0C2D297E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8E308C1-B906-DFFA-7540-66737379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904985"/>
              </p:ext>
            </p:extLst>
          </p:nvPr>
        </p:nvGraphicFramePr>
        <p:xfrm>
          <a:off x="1761671" y="2224473"/>
          <a:ext cx="8721272" cy="219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636">
                  <a:extLst>
                    <a:ext uri="{9D8B030D-6E8A-4147-A177-3AD203B41FA5}">
                      <a16:colId xmlns:a16="http://schemas.microsoft.com/office/drawing/2014/main" val="743381934"/>
                    </a:ext>
                  </a:extLst>
                </a:gridCol>
                <a:gridCol w="4360636">
                  <a:extLst>
                    <a:ext uri="{9D8B030D-6E8A-4147-A177-3AD203B41FA5}">
                      <a16:colId xmlns:a16="http://schemas.microsoft.com/office/drawing/2014/main" val="139688033"/>
                    </a:ext>
                  </a:extLst>
                </a:gridCol>
              </a:tblGrid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rgbClr val="2ECC71"/>
                          </a:solidFill>
                          <a:effectLst/>
                        </a:rPr>
                        <a:t>MODÈLE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F1 (</a:t>
                      </a:r>
                      <a:r>
                        <a:rPr lang="fr-FR" b="1" dirty="0">
                          <a:solidFill>
                            <a:srgbClr val="2ECC71"/>
                          </a:solidFill>
                          <a:effectLst/>
                        </a:rPr>
                        <a:t>TEST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265012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0.512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5421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 err="1">
                          <a:solidFill>
                            <a:srgbClr val="2ECC71"/>
                          </a:solidFill>
                          <a:effectLst/>
                        </a:rPr>
                        <a:t>Random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effectLst/>
                        </a:rPr>
                        <a:t>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0.576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5979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solidFill>
                            <a:srgbClr val="2ECC71"/>
                          </a:solidFill>
                          <a:effectLst/>
                        </a:rPr>
                        <a:t>0.754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34982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6FA383DB-F205-AAE6-80CB-8AA8F32274AE}"/>
              </a:ext>
            </a:extLst>
          </p:cNvPr>
          <p:cNvSpPr txBox="1"/>
          <p:nvPr/>
        </p:nvSpPr>
        <p:spPr>
          <a:xfrm>
            <a:off x="838200" y="5064810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 err="1">
                <a:solidFill>
                  <a:srgbClr val="F8F8F6"/>
                </a:solidFill>
                <a:effectLst/>
                <a:latin typeface="Anthropic Sans"/>
              </a:rPr>
              <a:t>total_pages_visited</a:t>
            </a:r>
            <a:r>
              <a:rPr lang="en-US" sz="2400" b="0" i="0" dirty="0">
                <a:solidFill>
                  <a:srgbClr val="F8F8F6"/>
                </a:solidFill>
                <a:effectLst/>
                <a:latin typeface="Anthropic Sans"/>
              </a:rPr>
              <a:t> (dominant), age (18-30), </a:t>
            </a:r>
            <a:r>
              <a:rPr lang="en-US" sz="2400" b="0" i="0" dirty="0" err="1">
                <a:solidFill>
                  <a:srgbClr val="F8F8F6"/>
                </a:solidFill>
                <a:effectLst/>
                <a:latin typeface="Anthropic Sans"/>
              </a:rPr>
              <a:t>new_user</a:t>
            </a:r>
            <a:r>
              <a:rPr lang="en-US" sz="2400" b="0" i="0" dirty="0">
                <a:solidFill>
                  <a:srgbClr val="F8F8F6"/>
                </a:solidFill>
                <a:effectLst/>
                <a:latin typeface="Anthropic Sans"/>
              </a:rPr>
              <a:t>, country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4226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CA014-02BF-6533-0127-5C57C4AD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RECOMMANDATIONS &amp; LIMITES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6BCB4A-9B68-E858-178F-EA9DA668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Conversion Rate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862662-3E44-F9A7-98F2-43F2AE17D9DA}"/>
              </a:ext>
            </a:extLst>
          </p:cNvPr>
          <p:cNvSpPr txBox="1"/>
          <p:nvPr/>
        </p:nvSpPr>
        <p:spPr>
          <a:xfrm>
            <a:off x="3271157" y="2017260"/>
            <a:ext cx="56496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Inciter la </a:t>
            </a:r>
            <a:r>
              <a:rPr lang="fr-FR" dirty="0">
                <a:solidFill>
                  <a:srgbClr val="2ECC71"/>
                </a:solidFill>
              </a:rPr>
              <a:t>navigation</a:t>
            </a:r>
            <a:r>
              <a:rPr lang="fr-FR" dirty="0"/>
              <a:t> : au-delà de 12-15 pages, conversion quasi certaine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Cibler les 18-30 ans : meilleur taux de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2ECC71"/>
                </a:solidFill>
              </a:rPr>
              <a:t>Retargeting</a:t>
            </a:r>
            <a:r>
              <a:rPr lang="fr-FR" dirty="0"/>
              <a:t> : les utilisateurs récurrents convertissent mieux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Adapter par </a:t>
            </a:r>
            <a:r>
              <a:rPr lang="fr-FR" dirty="0">
                <a:solidFill>
                  <a:srgbClr val="2ECC71"/>
                </a:solidFill>
              </a:rPr>
              <a:t>pays</a:t>
            </a:r>
            <a:r>
              <a:rPr lang="fr-FR" dirty="0"/>
              <a:t> : disparités géographiques modérées</a:t>
            </a:r>
          </a:p>
          <a:p>
            <a:endParaRPr lang="fr-FR" dirty="0"/>
          </a:p>
          <a:p>
            <a:r>
              <a:rPr lang="fr-FR" dirty="0">
                <a:solidFill>
                  <a:srgbClr val="2ECC71"/>
                </a:solidFill>
              </a:rPr>
              <a:t>Limites</a:t>
            </a:r>
            <a:r>
              <a:rPr lang="fr-FR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pas de données de </a:t>
            </a:r>
            <a:r>
              <a:rPr lang="fr-FR" dirty="0">
                <a:solidFill>
                  <a:srgbClr val="2ECC71"/>
                </a:solidFill>
              </a:rPr>
              <a:t>contenu</a:t>
            </a:r>
            <a:r>
              <a:rPr lang="fr-FR" dirty="0"/>
              <a:t> (quelles pages convertissent ?),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seuil de classification à 0.5 non optimisé</a:t>
            </a:r>
          </a:p>
        </p:txBody>
      </p:sp>
    </p:spTree>
    <p:extLst>
      <p:ext uri="{BB962C8B-B14F-4D97-AF65-F5344CB8AC3E}">
        <p14:creationId xmlns:p14="http://schemas.microsoft.com/office/powerpoint/2010/main" val="346389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Personnalisé 1">
      <a:majorFont>
        <a:latin typeface="Space Grotesk SemiBold"/>
        <a:ea typeface=""/>
        <a:cs typeface=""/>
      </a:majorFont>
      <a:minorFont>
        <a:latin typeface="Space Grotesk 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1248</TotalTime>
  <Words>228</Words>
  <Application>Microsoft Office PowerPoint</Application>
  <PresentationFormat>Grand écran</PresentationFormat>
  <Paragraphs>36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Anthropic Sans</vt:lpstr>
      <vt:lpstr>Aptos</vt:lpstr>
      <vt:lpstr>Arial</vt:lpstr>
      <vt:lpstr>Space Grotesk Light</vt:lpstr>
      <vt:lpstr>Space Grotesk SemiBold</vt:lpstr>
      <vt:lpstr>Office Theme</vt:lpstr>
      <vt:lpstr>Prédiction du  taux de conversion</vt:lpstr>
      <vt:lpstr>PROBLÉMATIQUE</vt:lpstr>
      <vt:lpstr>DÉMARCHE</vt:lpstr>
      <vt:lpstr>RÉSULTATS</vt:lpstr>
      <vt:lpstr>RECOMMANDATIONS &amp; LIMITES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Athanor Savouillan</dc:creator>
  <cp:lastModifiedBy>Athanor SAVOUILLAN</cp:lastModifiedBy>
  <cp:revision>40</cp:revision>
  <dcterms:created xsi:type="dcterms:W3CDTF">2026-03-05T10:10:09Z</dcterms:created>
  <dcterms:modified xsi:type="dcterms:W3CDTF">2026-04-13T22:30:42Z</dcterms:modified>
</cp:coreProperties>
</file>